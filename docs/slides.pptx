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2c66d8f1-108c-000c-e65a-d8c587ec1a57}">
          <p14:sldIdLst>
            <p14:sldId id="256"/>
          </p14:sldIdLst>
        </p14:section>
        <p14:section name="시스템" id="{619b64bb-66aa-59e7-c15f-f7e34b6586d4}">
          <p14:sldIdLst>
            <p14:sldId id="257"/>
            <p14:sldId id="258"/>
            <p14:sldId id="259"/>
          </p14:sldIdLst>
        </p14:section>
        <p14:section name="인식 · 판단 · 행동" id="{3b71ea7c-bbe3-08b2-c62a-7dd3c7daba3d}">
          <p14:sldIdLst>
            <p14:sldId id="260"/>
            <p14:sldId id="261"/>
            <p14:sldId id="262"/>
            <p14:sldId id="263"/>
            <p14:sldId id="264"/>
          </p14:sldIdLst>
        </p14:section>
        <p14:section name="결과" id="{f2a5ad63-a1c3-a7d4-2e18-f3c0cd025038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3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2330"/>
                </a:solidFill>
                <a:latin typeface="+mn-lt"/>
              </a:rPr>
              <a:t>시작 시간: GPU 컴파일 vs CPU (초)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시작 시간(초)</c:v>
                </c:pt>
              </c:strCache>
            </c:strRef>
          </c:tx>
          <c:spPr>
            <a:solidFill>
              <a:srgbClr val="2F5B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3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GPU 컴파일 (정책 2개)</c:v>
                  </c:pt>
                  <c:pt idx="1">
                    <c:v>CPU 로드</c:v>
                  </c:pt>
                  <c:pt idx="2">
                    <c:v>연결 + 워밍업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3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3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SO-ARM101 로봇팔이 오란다만 골라 옮기고, 지치면 거부하고 달래면 다시 일하는 캐릭터 로봇 보리를 소개한다.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흐름: 시키기, 개수 세기, 옮기기, 거부, 달래기, 완료. 횟수와 거부 시점은 코드가 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인식은 개수와 놓는 순간, 판단은 코드 가드와 LLM, 행동은 ACT와 코드 동작.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장비 연결, 오른쪽은 웹 관제 화면 배치. FastAPI와 WebSocket으로 상태를 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OpenCV 규칙 다섯 단계. 학습이 필요 없고 노트북에서 17ms.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거부는 처음 센 개수의 절반을 옮긴 뒤 한 번. 달래면 나머지는 거부 없이 끝까지.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녹화 규칙: 에피소드 하나 = 동작 한 번, 홈에서 시작, 놓자마자 종료(복귀는 코드), 과자 위치는 바꾸고 트레이는 고정. 오란다는 5 에포크라 아직 덜 학습됐고, 도리도리는 데이터가 적어 과적합이다.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녹화부터 실행까지 네 단계. 그리퍼 값으로 놓는 순간을 감지해 ACT를 멈추고 코드가 복귀시킨다.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인식은 노트북 안 OpenVINO Whisper. 상태별로 받아들이는 말이 정해져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GPU는 시작할 때 모델 컴파일에 2분이 걸려 CPU로 실행한다. 추론 1회로 3.3초 분량을 움직이니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역할 분리, 데이터 기반 현장 값, OpenVINO 온디바이스. 다음은 제어 주기와 리허설.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D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4572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050"/>
                </a:solidFill>
              </a:rPr>
              <a:t>INTEL OPENVINO 과정 · 로봇팔 프로젝트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80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과자 옮기기 로봇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0A050"/>
                </a:solidFill>
              </a:rPr>
              <a:t>“보리”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AE3"/>
                </a:solidFill>
              </a:rPr>
              <a:t>섞인 트레이에서 오란다만 골라 옮기고, 지치면 도리도리로 거부하고, 달래면 다시 일하는 로봇팔</a:t>
            </a:r>
            <a:endParaRPr lang="en-US" sz="1500" dirty="0"/>
          </a:p>
        </p:txBody>
      </p:sp>
      <p:sp>
        <p:nvSpPr>
          <p:cNvPr id="5" name="tag-1"/>
          <p:cNvSpPr/>
          <p:nvPr/>
        </p:nvSpPr>
        <p:spPr>
          <a:xfrm>
            <a:off x="548640" y="37490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A2A1A"/>
          </a:solidFill>
          <a:ln w="12700">
            <a:solidFill>
              <a:srgbClr val="F0A050"/>
            </a:solidFill>
            <a:prstDash val="solid"/>
          </a:ln>
        </p:spPr>
      </p:sp>
      <p:sp>
        <p:nvSpPr>
          <p:cNvPr id="6" name="tagtext-2"/>
          <p:cNvSpPr txBox="1"/>
          <p:nvPr/>
        </p:nvSpPr>
        <p:spPr>
          <a:xfrm>
            <a:off x="548640" y="37490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050"/>
                </a:solidFill>
              </a:rPr>
              <a:t>SO-ARM101</a:t>
            </a:r>
            <a:endParaRPr lang="en-US" sz="1100" dirty="0"/>
          </a:p>
        </p:txBody>
      </p:sp>
      <p:sp>
        <p:nvSpPr>
          <p:cNvPr id="7" name="tag-3"/>
          <p:cNvSpPr/>
          <p:nvPr/>
        </p:nvSpPr>
        <p:spPr>
          <a:xfrm>
            <a:off x="1691640" y="37490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A2A1A"/>
          </a:solidFill>
          <a:ln w="12700">
            <a:solidFill>
              <a:srgbClr val="F0A050"/>
            </a:solidFill>
            <a:prstDash val="solid"/>
          </a:ln>
        </p:spPr>
      </p:sp>
      <p:sp>
        <p:nvSpPr>
          <p:cNvPr id="8" name="tagtext-4"/>
          <p:cNvSpPr txBox="1"/>
          <p:nvPr/>
        </p:nvSpPr>
        <p:spPr>
          <a:xfrm>
            <a:off x="1691640" y="3749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050"/>
                </a:solidFill>
              </a:rPr>
              <a:t>ACT · OpenVINO</a:t>
            </a:r>
            <a:endParaRPr lang="en-US" sz="1100" dirty="0"/>
          </a:p>
        </p:txBody>
      </p:sp>
      <p:sp>
        <p:nvSpPr>
          <p:cNvPr id="9" name="tag-5"/>
          <p:cNvSpPr/>
          <p:nvPr/>
        </p:nvSpPr>
        <p:spPr>
          <a:xfrm>
            <a:off x="3063240" y="374904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3A2A1A"/>
          </a:solidFill>
          <a:ln w="12700">
            <a:solidFill>
              <a:srgbClr val="F0A050"/>
            </a:solidFill>
            <a:prstDash val="solid"/>
          </a:ln>
        </p:spPr>
      </p:sp>
      <p:sp>
        <p:nvSpPr>
          <p:cNvPr id="10" name="tagtext-6"/>
          <p:cNvSpPr txBox="1"/>
          <p:nvPr/>
        </p:nvSpPr>
        <p:spPr>
          <a:xfrm>
            <a:off x="3063240" y="3749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050"/>
                </a:solidFill>
              </a:rPr>
              <a:t>OpenCV</a:t>
            </a:r>
            <a:endParaRPr lang="en-US" sz="1100" dirty="0"/>
          </a:p>
        </p:txBody>
      </p:sp>
      <p:sp>
        <p:nvSpPr>
          <p:cNvPr id="11" name="tag-7"/>
          <p:cNvSpPr/>
          <p:nvPr/>
        </p:nvSpPr>
        <p:spPr>
          <a:xfrm>
            <a:off x="3886200" y="3749040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3A2A1A"/>
          </a:solidFill>
          <a:ln w="12700">
            <a:solidFill>
              <a:srgbClr val="F0A050"/>
            </a:solidFill>
            <a:prstDash val="solid"/>
          </a:ln>
        </p:spPr>
      </p:sp>
      <p:sp>
        <p:nvSpPr>
          <p:cNvPr id="12" name="tagtext-8"/>
          <p:cNvSpPr txBox="1"/>
          <p:nvPr/>
        </p:nvSpPr>
        <p:spPr>
          <a:xfrm>
            <a:off x="3886200" y="3749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050"/>
                </a:solidFill>
              </a:rPr>
              <a:t>LLM</a:t>
            </a:r>
            <a:endParaRPr lang="en-US" sz="1100" dirty="0"/>
          </a:p>
        </p:txBody>
      </p:sp>
      <p:sp>
        <p:nvSpPr>
          <p:cNvPr id="13" name="tag-9"/>
          <p:cNvSpPr/>
          <p:nvPr/>
        </p:nvSpPr>
        <p:spPr>
          <a:xfrm>
            <a:off x="548640" y="41605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A2A1A"/>
          </a:solidFill>
          <a:ln w="12700">
            <a:solidFill>
              <a:srgbClr val="F0A050"/>
            </a:solidFill>
            <a:prstDash val="solid"/>
          </a:ln>
        </p:spPr>
      </p:sp>
      <p:sp>
        <p:nvSpPr>
          <p:cNvPr id="14" name="tagtext-10"/>
          <p:cNvSpPr txBox="1"/>
          <p:nvPr/>
        </p:nvSpPr>
        <p:spPr>
          <a:xfrm>
            <a:off x="548640" y="4160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050"/>
                </a:solidFill>
              </a:rPr>
              <a:t>Whisper · OpenVINO</a:t>
            </a:r>
            <a:endParaRPr lang="en-US" sz="1100" dirty="0"/>
          </a:p>
        </p:txBody>
      </p:sp>
      <p:pic>
        <p:nvPicPr>
          <p:cNvPr id="15" name="cover-photo" descr="위쪽 카메라 화면: 오란다 3개에 노란 상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3291840" cy="296265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39496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CCB"/>
                </a:solidFill>
              </a:rPr>
              <a:t>위쪽 카메라 화면 · 노란 상자 = 오란다로 센 것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5"/>
                </a:solidFill>
              </a:rPr>
              <a:t>homerunball · 2026-10-23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시연 시나리오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채팅·음성으로 일을 시키면 카메라로 세고, 하나씩 옮기다 절반쯤에서 지쳐 거부한다</a:t>
            </a:r>
            <a:endParaRPr lang="en-US" sz="1400" dirty="0"/>
          </a:p>
        </p:txBody>
      </p:sp>
      <p:sp>
        <p:nvSpPr>
          <p:cNvPr id="4" name="box-11"/>
          <p:cNvSpPr/>
          <p:nvPr/>
        </p:nvSpPr>
        <p:spPr>
          <a:xfrm>
            <a:off x="457200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5" name="boxtext-12"/>
          <p:cNvSpPr txBox="1"/>
          <p:nvPr/>
        </p:nvSpPr>
        <p:spPr>
          <a:xfrm>
            <a:off x="45720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① 시키기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“오란다 옮겨줘”</a:t>
            </a:r>
            <a:endParaRPr lang="en-US" sz="1500" dirty="0"/>
          </a:p>
        </p:txBody>
      </p:sp>
      <p:sp>
        <p:nvSpPr>
          <p:cNvPr id="6" name="arrow-13"/>
          <p:cNvSpPr/>
          <p:nvPr/>
        </p:nvSpPr>
        <p:spPr>
          <a:xfrm>
            <a:off x="1920240" y="1783080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7" name="box-14"/>
          <p:cNvSpPr/>
          <p:nvPr/>
        </p:nvSpPr>
        <p:spPr>
          <a:xfrm>
            <a:off x="2139696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8" name="boxtext-15"/>
          <p:cNvSpPr txBox="1"/>
          <p:nvPr/>
        </p:nvSpPr>
        <p:spPr>
          <a:xfrm>
            <a:off x="2139696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② 개수 세기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카메라 → 전체 N개</a:t>
            </a:r>
            <a:endParaRPr lang="en-US" sz="1500" dirty="0"/>
          </a:p>
        </p:txBody>
      </p:sp>
      <p:sp>
        <p:nvSpPr>
          <p:cNvPr id="9" name="arrow-16"/>
          <p:cNvSpPr/>
          <p:nvPr/>
        </p:nvSpPr>
        <p:spPr>
          <a:xfrm>
            <a:off x="3602736" y="1783080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0" name="box-17"/>
          <p:cNvSpPr/>
          <p:nvPr/>
        </p:nvSpPr>
        <p:spPr>
          <a:xfrm>
            <a:off x="3822192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11" name="boxtext-18"/>
          <p:cNvSpPr txBox="1"/>
          <p:nvPr/>
        </p:nvSpPr>
        <p:spPr>
          <a:xfrm>
            <a:off x="3822192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③ 옮기기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ACT 정책 1회씩</a:t>
            </a:r>
            <a:endParaRPr lang="en-US" sz="1500" dirty="0"/>
          </a:p>
        </p:txBody>
      </p:sp>
      <p:sp>
        <p:nvSpPr>
          <p:cNvPr id="12" name="arrow-19"/>
          <p:cNvSpPr/>
          <p:nvPr/>
        </p:nvSpPr>
        <p:spPr>
          <a:xfrm>
            <a:off x="5285232" y="1783080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3" name="box-20"/>
          <p:cNvSpPr/>
          <p:nvPr/>
        </p:nvSpPr>
        <p:spPr>
          <a:xfrm>
            <a:off x="5504688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BE1DD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4" name="boxtext-21"/>
          <p:cNvSpPr txBox="1"/>
          <p:nvPr/>
        </p:nvSpPr>
        <p:spPr>
          <a:xfrm>
            <a:off x="5504688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④ 지쳐서 거부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절반 뒤 도리도리</a:t>
            </a:r>
            <a:endParaRPr lang="en-US" sz="1500" dirty="0"/>
          </a:p>
        </p:txBody>
      </p:sp>
      <p:sp>
        <p:nvSpPr>
          <p:cNvPr id="15" name="arrow-22"/>
          <p:cNvSpPr/>
          <p:nvPr/>
        </p:nvSpPr>
        <p:spPr>
          <a:xfrm>
            <a:off x="6967728" y="1783080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6" name="box-23"/>
          <p:cNvSpPr/>
          <p:nvPr/>
        </p:nvSpPr>
        <p:spPr>
          <a:xfrm>
            <a:off x="7187184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FE5F9"/>
          </a:solidFill>
          <a:ln w="19050">
            <a:solidFill>
              <a:srgbClr val="7A3FB5"/>
            </a:solidFill>
            <a:prstDash val="solid"/>
          </a:ln>
        </p:spPr>
      </p:sp>
      <p:sp>
        <p:nvSpPr>
          <p:cNvPr id="17" name="boxtext-24"/>
          <p:cNvSpPr txBox="1"/>
          <p:nvPr/>
        </p:nvSpPr>
        <p:spPr>
          <a:xfrm>
            <a:off x="7187184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⑤ 달래기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“조금만 더 힘내 줘”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394"/>
                </a:solidFill>
              </a:rPr>
              <a:t>한 개 성공할 때마다 다시 센다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394"/>
                </a:solidFill>
              </a:rPr>
              <a:t>달래면 나머지는 거부 없이 끝까지</a:t>
            </a:r>
            <a:endParaRPr lang="en-US" sz="1200" dirty="0"/>
          </a:p>
        </p:txBody>
      </p:sp>
      <p:sp>
        <p:nvSpPr>
          <p:cNvPr id="20" name="box-25"/>
          <p:cNvSpPr/>
          <p:nvPr/>
        </p:nvSpPr>
        <p:spPr>
          <a:xfrm>
            <a:off x="3291840" y="26974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21" name="boxtext-26"/>
          <p:cNvSpPr txBox="1"/>
          <p:nvPr/>
        </p:nvSpPr>
        <p:spPr>
          <a:xfrm>
            <a:off x="329184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330"/>
                </a:solidFill>
              </a:rPr>
              <a:t>⑥ 0개 → “다 옮겼어요!”</a:t>
            </a:r>
            <a:endParaRPr lang="en-US" sz="1400" dirty="0"/>
          </a:p>
        </p:txBody>
      </p:sp>
      <p:sp>
        <p:nvSpPr>
          <p:cNvPr id="22" name="card-27"/>
          <p:cNvSpPr/>
          <p:nvPr/>
        </p:nvSpPr>
        <p:spPr>
          <a:xfrm>
            <a:off x="45720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3" name="cardtext-28"/>
          <p:cNvSpPr txBox="1"/>
          <p:nvPr/>
        </p:nvSpPr>
        <p:spPr>
          <a:xfrm>
            <a:off x="566928" y="3502152"/>
            <a:ext cx="37581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D2330"/>
                </a:solidFill>
              </a:rPr>
              <a:t>절대 규칙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366"/>
                </a:solidFill>
              </a:rPr>
              <a:t>횟수는 코드가 센다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366"/>
                </a:solidFill>
              </a:rPr>
              <a:t>LLM은 허용된 값(옮기기 · 도리도리 · 끝)과 대사만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366"/>
                </a:solidFill>
              </a:rPr>
              <a:t>비상정지는 토크를 켠 채 그 자리 유지</a:t>
            </a:r>
            <a:endParaRPr lang="en-US" sz="1500" dirty="0"/>
          </a:p>
        </p:txBody>
      </p:sp>
      <p:sp>
        <p:nvSpPr>
          <p:cNvPr id="24" name="card-29"/>
          <p:cNvSpPr/>
          <p:nvPr/>
        </p:nvSpPr>
        <p:spPr>
          <a:xfrm>
            <a:off x="470916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5" name="cardtext-30"/>
          <p:cNvSpPr txBox="1"/>
          <p:nvPr/>
        </p:nvSpPr>
        <p:spPr>
          <a:xfrm>
            <a:off x="4818888" y="3502152"/>
            <a:ext cx="37581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D2330"/>
                </a:solidFill>
              </a:rPr>
              <a:t>거부 시점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366"/>
                </a:solidFill>
              </a:rPr>
              <a:t>처음 센 개수의 절반(올림)을 옮긴 뒤 한 번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366"/>
                </a:solidFill>
              </a:rPr>
              <a:t>3·4개 → 2개 뒤, 5·6개 → 3개 뒤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366"/>
                </a:solidFill>
              </a:rPr>
              <a:t>1~2개면 거부 없음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3계층 구조: 인식 · 판단 · 행동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과자를 찾아 집는 건 ACT가 영상만 보고 한다. 언제 끝낼지·성공했는지·무슨 말을 할지는 코드와 LLM</a:t>
            </a:r>
            <a:endParaRPr lang="en-US" sz="1400" dirty="0"/>
          </a:p>
        </p:txBody>
      </p:sp>
      <p:sp>
        <p:nvSpPr>
          <p:cNvPr id="4" name="layer-31"/>
          <p:cNvSpPr/>
          <p:nvPr/>
        </p:nvSpPr>
        <p:spPr>
          <a:xfrm>
            <a:off x="45720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DFF3E7"/>
          </a:solidFill>
          <a:ln w="25400">
            <a:solidFill>
              <a:srgbClr val="1B7F4B"/>
            </a:solidFill>
            <a:prstDash val="solid"/>
          </a:ln>
        </p:spPr>
      </p:sp>
      <p:sp>
        <p:nvSpPr>
          <p:cNvPr id="5" name="layertitle-32"/>
          <p:cNvSpPr txBox="1"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30"/>
                </a:solidFill>
              </a:rPr>
              <a:t>인식</a:t>
            </a:r>
            <a:endParaRPr lang="en-US" sz="1800" dirty="0"/>
          </a:p>
        </p:txBody>
      </p:sp>
      <p:sp>
        <p:nvSpPr>
          <p:cNvPr id="6" name="box-33"/>
          <p:cNvSpPr/>
          <p:nvPr/>
        </p:nvSpPr>
        <p:spPr>
          <a:xfrm>
            <a:off x="594360" y="1920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7" name="boxtext-34"/>
          <p:cNvSpPr txBox="1"/>
          <p:nvPr/>
        </p:nvSpPr>
        <p:spPr>
          <a:xfrm>
            <a:off x="5943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OpenCV 오란다 카운터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위쪽 카메라 · 5장 중앙값</a:t>
            </a:r>
            <a:endParaRPr lang="en-US" sz="1300" dirty="0"/>
          </a:p>
        </p:txBody>
      </p:sp>
      <p:sp>
        <p:nvSpPr>
          <p:cNvPr id="8" name="box-35"/>
          <p:cNvSpPr/>
          <p:nvPr/>
        </p:nvSpPr>
        <p:spPr>
          <a:xfrm>
            <a:off x="594360" y="2834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9" name="boxtext-36"/>
          <p:cNvSpPr txBox="1"/>
          <p:nvPr/>
        </p:nvSpPr>
        <p:spPr>
          <a:xfrm>
            <a:off x="59436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그리퍼 닫힘 → 열림 감지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놓는 순간 ACT 정지</a:t>
            </a:r>
            <a:endParaRPr lang="en-US" sz="1300" dirty="0"/>
          </a:p>
        </p:txBody>
      </p:sp>
      <p:sp>
        <p:nvSpPr>
          <p:cNvPr id="10" name="box-37"/>
          <p:cNvSpPr/>
          <p:nvPr/>
        </p:nvSpPr>
        <p:spPr>
          <a:xfrm>
            <a:off x="594360" y="37490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1" name="boxtext-38"/>
          <p:cNvSpPr txBox="1"/>
          <p:nvPr/>
        </p:nvSpPr>
        <p:spPr>
          <a:xfrm>
            <a:off x="59436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STT · Whisper (OpenVINO)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마이크 버튼 누르고 말하기</a:t>
            </a:r>
            <a:endParaRPr lang="en-US" sz="1300" dirty="0"/>
          </a:p>
        </p:txBody>
      </p:sp>
      <p:sp>
        <p:nvSpPr>
          <p:cNvPr id="12" name="arrow-39"/>
          <p:cNvSpPr/>
          <p:nvPr/>
        </p:nvSpPr>
        <p:spPr>
          <a:xfrm>
            <a:off x="3017520" y="3017520"/>
            <a:ext cx="274320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3" name="layer-40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E3EAFC"/>
          </a:solidFill>
          <a:ln w="25400">
            <a:solidFill>
              <a:srgbClr val="2F5BD8"/>
            </a:solidFill>
            <a:prstDash val="solid"/>
          </a:ln>
        </p:spPr>
      </p:sp>
      <p:sp>
        <p:nvSpPr>
          <p:cNvPr id="14" name="layertitle-41"/>
          <p:cNvSpPr txBox="1"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30"/>
                </a:solidFill>
              </a:rPr>
              <a:t>판단</a:t>
            </a:r>
            <a:endParaRPr lang="en-US" sz="1800" dirty="0"/>
          </a:p>
        </p:txBody>
      </p:sp>
      <p:sp>
        <p:nvSpPr>
          <p:cNvPr id="15" name="box-42"/>
          <p:cNvSpPr/>
          <p:nvPr/>
        </p:nvSpPr>
        <p:spPr>
          <a:xfrm>
            <a:off x="3429000" y="1920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6" name="boxtext-43"/>
          <p:cNvSpPr txBox="1"/>
          <p:nvPr/>
        </p:nvSpPr>
        <p:spPr>
          <a:xfrm>
            <a:off x="34290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controller (상태 머신)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개수 · 거부 시점 · 재시도</a:t>
            </a:r>
            <a:endParaRPr lang="en-US" sz="1300" dirty="0"/>
          </a:p>
        </p:txBody>
      </p:sp>
      <p:sp>
        <p:nvSpPr>
          <p:cNvPr id="17" name="box-44"/>
          <p:cNvSpPr/>
          <p:nvPr/>
        </p:nvSpPr>
        <p:spPr>
          <a:xfrm>
            <a:off x="3429000" y="2834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8" name="boxtext-45"/>
          <p:cNvSpPr txBox="1"/>
          <p:nvPr/>
        </p:nvSpPr>
        <p:spPr>
          <a:xfrm>
            <a:off x="342900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코드 가드 → LLM 대사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Claude → NVIDIA → 규칙</a:t>
            </a:r>
            <a:endParaRPr lang="en-US" sz="1300" dirty="0"/>
          </a:p>
        </p:txBody>
      </p:sp>
      <p:sp>
        <p:nvSpPr>
          <p:cNvPr id="19" name="box-46"/>
          <p:cNvSpPr/>
          <p:nvPr/>
        </p:nvSpPr>
        <p:spPr>
          <a:xfrm>
            <a:off x="3429000" y="37490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0" name="boxtext-47"/>
          <p:cNvSpPr txBox="1"/>
          <p:nvPr/>
        </p:nvSpPr>
        <p:spPr>
          <a:xfrm>
            <a:off x="342900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TTS · Gemini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실패 시 Windows 음성</a:t>
            </a:r>
            <a:endParaRPr lang="en-US" sz="1300" dirty="0"/>
          </a:p>
        </p:txBody>
      </p:sp>
      <p:sp>
        <p:nvSpPr>
          <p:cNvPr id="21" name="arrow-48"/>
          <p:cNvSpPr/>
          <p:nvPr/>
        </p:nvSpPr>
        <p:spPr>
          <a:xfrm>
            <a:off x="5852160" y="3017520"/>
            <a:ext cx="274320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22" name="layer-49"/>
          <p:cNvSpPr/>
          <p:nvPr/>
        </p:nvSpPr>
        <p:spPr>
          <a:xfrm>
            <a:off x="612648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FBE9D2"/>
          </a:solidFill>
          <a:ln w="25400">
            <a:solidFill>
              <a:srgbClr val="C8691A"/>
            </a:solidFill>
            <a:prstDash val="solid"/>
          </a:ln>
        </p:spPr>
      </p:sp>
      <p:sp>
        <p:nvSpPr>
          <p:cNvPr id="23" name="layertitle-50"/>
          <p:cNvSpPr txBox="1"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30"/>
                </a:solidFill>
              </a:rPr>
              <a:t>행동</a:t>
            </a:r>
            <a:endParaRPr lang="en-US" sz="1800" dirty="0"/>
          </a:p>
        </p:txBody>
      </p:sp>
      <p:sp>
        <p:nvSpPr>
          <p:cNvPr id="24" name="box-51"/>
          <p:cNvSpPr/>
          <p:nvPr/>
        </p:nvSpPr>
        <p:spPr>
          <a:xfrm>
            <a:off x="6263640" y="19202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5" name="boxtext-52"/>
          <p:cNvSpPr txBox="1"/>
          <p:nvPr/>
        </p:nvSpPr>
        <p:spPr>
          <a:xfrm>
            <a:off x="626364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ACT oranda_pickup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OpenVINO · physicalai 런타임</a:t>
            </a:r>
            <a:endParaRPr lang="en-US" sz="1300" dirty="0"/>
          </a:p>
        </p:txBody>
      </p:sp>
      <p:sp>
        <p:nvSpPr>
          <p:cNvPr id="26" name="box-53"/>
          <p:cNvSpPr/>
          <p:nvPr/>
        </p:nvSpPr>
        <p:spPr>
          <a:xfrm>
            <a:off x="6263640" y="2834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7" name="boxtext-54"/>
          <p:cNvSpPr txBox="1"/>
          <p:nvPr/>
        </p:nvSpPr>
        <p:spPr>
          <a:xfrm>
            <a:off x="626364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도리도리 (코드 동작)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몸통 좌우 흔들기</a:t>
            </a:r>
            <a:endParaRPr lang="en-US" sz="1300" dirty="0"/>
          </a:p>
        </p:txBody>
      </p:sp>
      <p:sp>
        <p:nvSpPr>
          <p:cNvPr id="28" name="box-55"/>
          <p:cNvSpPr/>
          <p:nvPr/>
        </p:nvSpPr>
        <p:spPr>
          <a:xfrm>
            <a:off x="6263640" y="37490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9" name="boxtext-56"/>
          <p:cNvSpPr txBox="1"/>
          <p:nvPr/>
        </p:nvSpPr>
        <p:spPr>
          <a:xfrm>
            <a:off x="626364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lift → home 복귀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관절 보간 이동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하드웨어와 관제 화면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노트북 한 대(Windows)에서 팔 · 카메라 3대 · 모델 · 웹 UI가 모두 돈다</a:t>
            </a:r>
            <a:endParaRPr lang="en-US" sz="1400" dirty="0"/>
          </a:p>
        </p:txBody>
      </p:sp>
      <p:sp>
        <p:nvSpPr>
          <p:cNvPr id="4" name="box-57"/>
          <p:cNvSpPr/>
          <p:nvPr/>
        </p:nvSpPr>
        <p:spPr>
          <a:xfrm>
            <a:off x="1691640" y="2514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5" name="boxtext-58"/>
          <p:cNvSpPr txBox="1"/>
          <p:nvPr/>
        </p:nvSpPr>
        <p:spPr>
          <a:xfrm>
            <a:off x="1691640" y="2514600"/>
            <a:ext cx="1371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노트북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CPU 추론</a:t>
            </a:r>
            <a:endParaRPr lang="en-US" sz="1500" dirty="0"/>
          </a:p>
        </p:txBody>
      </p:sp>
      <p:sp>
        <p:nvSpPr>
          <p:cNvPr id="6" name="box-59"/>
          <p:cNvSpPr/>
          <p:nvPr/>
        </p:nvSpPr>
        <p:spPr>
          <a:xfrm>
            <a:off x="457200" y="132588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7" name="boxtext-60"/>
          <p:cNvSpPr txBox="1"/>
          <p:nvPr/>
        </p:nvSpPr>
        <p:spPr>
          <a:xfrm>
            <a:off x="457200" y="1325880"/>
            <a:ext cx="1417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팔로워 SO-101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COM5 · 서보 6개</a:t>
            </a:r>
            <a:endParaRPr lang="en-US" sz="1300" dirty="0"/>
          </a:p>
        </p:txBody>
      </p:sp>
      <p:sp>
        <p:nvSpPr>
          <p:cNvPr id="8" name="box-61"/>
          <p:cNvSpPr/>
          <p:nvPr/>
        </p:nvSpPr>
        <p:spPr>
          <a:xfrm>
            <a:off x="457200" y="37490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9" name="boxtext-62"/>
          <p:cNvSpPr txBox="1"/>
          <p:nvPr/>
        </p:nvSpPr>
        <p:spPr>
          <a:xfrm>
            <a:off x="457200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리더 SO-101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녹화(학습)용</a:t>
            </a:r>
            <a:endParaRPr lang="en-US" sz="1300" dirty="0"/>
          </a:p>
        </p:txBody>
      </p:sp>
      <p:sp>
        <p:nvSpPr>
          <p:cNvPr id="10" name="box-63"/>
          <p:cNvSpPr/>
          <p:nvPr/>
        </p:nvSpPr>
        <p:spPr>
          <a:xfrm>
            <a:off x="3337560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11" name="boxtext-64"/>
          <p:cNvSpPr txBox="1"/>
          <p:nvPr/>
        </p:nvSpPr>
        <p:spPr>
          <a:xfrm>
            <a:off x="3337560" y="1325880"/>
            <a:ext cx="12344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위쪽 카메라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개수 세기</a:t>
            </a:r>
            <a:endParaRPr lang="en-US" sz="1300" dirty="0"/>
          </a:p>
        </p:txBody>
      </p:sp>
      <p:sp>
        <p:nvSpPr>
          <p:cNvPr id="12" name="box-65"/>
          <p:cNvSpPr/>
          <p:nvPr/>
        </p:nvSpPr>
        <p:spPr>
          <a:xfrm>
            <a:off x="3337560" y="256032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13" name="boxtext-66"/>
          <p:cNvSpPr txBox="1"/>
          <p:nvPr/>
        </p:nvSpPr>
        <p:spPr>
          <a:xfrm>
            <a:off x="3337560" y="2560320"/>
            <a:ext cx="12344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사이드 카메라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트레이 맞은편</a:t>
            </a:r>
            <a:endParaRPr lang="en-US" sz="1300" dirty="0"/>
          </a:p>
        </p:txBody>
      </p:sp>
      <p:sp>
        <p:nvSpPr>
          <p:cNvPr id="14" name="box-67"/>
          <p:cNvSpPr/>
          <p:nvPr/>
        </p:nvSpPr>
        <p:spPr>
          <a:xfrm>
            <a:off x="3337560" y="379476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15" name="boxtext-68"/>
          <p:cNvSpPr txBox="1"/>
          <p:nvPr/>
        </p:nvSpPr>
        <p:spPr>
          <a:xfrm>
            <a:off x="3337560" y="3794760"/>
            <a:ext cx="12344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손목 카메라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follow</a:t>
            </a:r>
            <a:endParaRPr lang="en-US" sz="1300" dirty="0"/>
          </a:p>
        </p:txBody>
      </p:sp>
      <p:sp>
        <p:nvSpPr>
          <p:cNvPr id="16" name="arrow-69"/>
          <p:cNvSpPr/>
          <p:nvPr/>
        </p:nvSpPr>
        <p:spPr>
          <a:xfrm>
            <a:off x="1188720" y="1965960"/>
            <a:ext cx="822960" cy="548640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7" name="arrow-70"/>
          <p:cNvSpPr/>
          <p:nvPr/>
        </p:nvSpPr>
        <p:spPr>
          <a:xfrm flipH="1">
            <a:off x="2743200" y="1645920"/>
            <a:ext cx="594360" cy="868680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8" name="arrow-71"/>
          <p:cNvSpPr/>
          <p:nvPr/>
        </p:nvSpPr>
        <p:spPr>
          <a:xfrm flipH="1">
            <a:off x="3063240" y="2852928"/>
            <a:ext cx="274320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9" name="arrow-72"/>
          <p:cNvSpPr/>
          <p:nvPr/>
        </p:nvSpPr>
        <p:spPr>
          <a:xfrm flipH="1" flipV="1">
            <a:off x="2743200" y="3200400"/>
            <a:ext cx="594360" cy="868680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57200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394"/>
                </a:solidFill>
              </a:rPr>
              <a:t>카메라 3대 1280×720@30 · USB 포트를 나눠 꽂는다</a:t>
            </a:r>
            <a:endParaRPr lang="en-US" sz="1100" dirty="0"/>
          </a:p>
        </p:txBody>
      </p:sp>
      <p:sp>
        <p:nvSpPr>
          <p:cNvPr id="21" name="ui-frame"/>
          <p:cNvSpPr/>
          <p:nvPr/>
        </p:nvSpPr>
        <p:spPr>
          <a:xfrm>
            <a:off x="4937760" y="13258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2" name="box-73"/>
          <p:cNvSpPr/>
          <p:nvPr/>
        </p:nvSpPr>
        <p:spPr>
          <a:xfrm>
            <a:off x="5047488" y="143560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23" name="boxtext-74"/>
          <p:cNvSpPr txBox="1"/>
          <p:nvPr/>
        </p:nvSpPr>
        <p:spPr>
          <a:xfrm>
            <a:off x="5047488" y="1435608"/>
            <a:ext cx="11430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위쪽</a:t>
            </a:r>
            <a:endParaRPr lang="en-US" sz="1200" dirty="0"/>
          </a:p>
        </p:txBody>
      </p:sp>
      <p:sp>
        <p:nvSpPr>
          <p:cNvPr id="24" name="box-75"/>
          <p:cNvSpPr/>
          <p:nvPr/>
        </p:nvSpPr>
        <p:spPr>
          <a:xfrm>
            <a:off x="6263640" y="143560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25" name="boxtext-76"/>
          <p:cNvSpPr txBox="1"/>
          <p:nvPr/>
        </p:nvSpPr>
        <p:spPr>
          <a:xfrm>
            <a:off x="6263640" y="1435608"/>
            <a:ext cx="11430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사이드</a:t>
            </a:r>
            <a:endParaRPr lang="en-US" sz="1200" dirty="0"/>
          </a:p>
        </p:txBody>
      </p:sp>
      <p:sp>
        <p:nvSpPr>
          <p:cNvPr id="26" name="box-77"/>
          <p:cNvSpPr/>
          <p:nvPr/>
        </p:nvSpPr>
        <p:spPr>
          <a:xfrm>
            <a:off x="5047488" y="2240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27" name="boxtext-78"/>
          <p:cNvSpPr txBox="1"/>
          <p:nvPr/>
        </p:nvSpPr>
        <p:spPr>
          <a:xfrm>
            <a:off x="5047488" y="2240280"/>
            <a:ext cx="11430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손목</a:t>
            </a:r>
            <a:endParaRPr lang="en-US" sz="1200" dirty="0"/>
          </a:p>
        </p:txBody>
      </p:sp>
      <p:sp>
        <p:nvSpPr>
          <p:cNvPr id="28" name="box-79"/>
          <p:cNvSpPr/>
          <p:nvPr/>
        </p:nvSpPr>
        <p:spPr>
          <a:xfrm>
            <a:off x="6263640" y="224028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FE5F9"/>
          </a:solidFill>
          <a:ln w="19050">
            <a:solidFill>
              <a:srgbClr val="7A3FB5"/>
            </a:solidFill>
            <a:prstDash val="solid"/>
          </a:ln>
        </p:spPr>
      </p:sp>
      <p:sp>
        <p:nvSpPr>
          <p:cNvPr id="29" name="boxtext-80"/>
          <p:cNvSpPr txBox="1"/>
          <p:nvPr/>
        </p:nvSpPr>
        <p:spPr>
          <a:xfrm>
            <a:off x="6263640" y="2240280"/>
            <a:ext cx="11430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3D 트윈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실시간 관절</a:t>
            </a:r>
            <a:endParaRPr lang="en-US" sz="1200" dirty="0"/>
          </a:p>
        </p:txBody>
      </p:sp>
      <p:sp>
        <p:nvSpPr>
          <p:cNvPr id="30" name="box-81"/>
          <p:cNvSpPr/>
          <p:nvPr/>
        </p:nvSpPr>
        <p:spPr>
          <a:xfrm>
            <a:off x="7498080" y="1435608"/>
            <a:ext cx="1078992" cy="1536192"/>
          </a:xfrm>
          <a:prstGeom prst="roundRect">
            <a:avLst>
              <a:gd name="adj" fmla="val 6780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31" name="boxtext-82"/>
          <p:cNvSpPr txBox="1"/>
          <p:nvPr/>
        </p:nvSpPr>
        <p:spPr>
          <a:xfrm>
            <a:off x="7498080" y="1435608"/>
            <a:ext cx="1078992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채팅 · 음성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로봇 대사</a:t>
            </a:r>
            <a:endParaRPr lang="en-US" sz="1200" dirty="0"/>
          </a:p>
        </p:txBody>
      </p:sp>
      <p:sp>
        <p:nvSpPr>
          <p:cNvPr id="32" name="ui-controls"/>
          <p:cNvSpPr/>
          <p:nvPr/>
        </p:nvSpPr>
        <p:spPr>
          <a:xfrm>
            <a:off x="5047488" y="3063240"/>
            <a:ext cx="3529584" cy="1261872"/>
          </a:xfrm>
          <a:prstGeom prst="roundRect">
            <a:avLst>
              <a:gd name="adj" fmla="val 4348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33" name="ui-controls-text"/>
          <p:cNvSpPr txBox="1"/>
          <p:nvPr/>
        </p:nvSpPr>
        <p:spPr>
          <a:xfrm>
            <a:off x="5138928" y="3108960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D2330"/>
                </a:solidFill>
              </a:rPr>
              <a:t>피로 게이지 “전체 6 · 3개째 뒤 거부”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D2330"/>
                </a:solidFill>
              </a:rPr>
              <a:t>스킬 테스트: 오란다 · 모델/코드 도리도리 · 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D2330"/>
                </a:solidFill>
              </a:rPr>
              <a:t>개수 세기: 끔 · OpenCV · 지금 세기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D2330"/>
                </a:solidFill>
              </a:rPr>
              <a:t>비상정지 (토크 유지)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인식: OpenCV로 오란다만 세기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학습 없이 색 · 크기 · 위치 규칙만으로. 한 번 세는 데 약 17ms</a:t>
            </a:r>
            <a:endParaRPr lang="en-US" sz="1400" dirty="0"/>
          </a:p>
        </p:txBody>
      </p:sp>
      <p:pic>
        <p:nvPicPr>
          <p:cNvPr id="4" name="opencv-photo" descr="위쪽 카메라 화면에서 오란다 3개에 노란 상자가 그려져 있다. 노란 볼과 초코송이는 제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566160" cy="32095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94"/>
                </a:solidFill>
              </a:rPr>
              <a:t>노란 상자 = 오란다 3개 (볼 · 초코송이 제외)</a:t>
            </a:r>
            <a:endParaRPr lang="en-US" sz="1000" dirty="0"/>
          </a:p>
        </p:txBody>
      </p:sp>
      <p:sp>
        <p:nvSpPr>
          <p:cNvPr id="6" name="box-83"/>
          <p:cNvSpPr/>
          <p:nvPr/>
        </p:nvSpPr>
        <p:spPr>
          <a:xfrm>
            <a:off x="4343400" y="128016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7" name="boxtext-84"/>
          <p:cNvSpPr txBox="1"/>
          <p:nvPr/>
        </p:nvSpPr>
        <p:spPr>
          <a:xfrm>
            <a:off x="4343400" y="1280160"/>
            <a:ext cx="4343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① 매트 영역(ROI)만 본다</a:t>
            </a:r>
            <a:endParaRPr lang="en-US" sz="1300" dirty="0"/>
          </a:p>
        </p:txBody>
      </p:sp>
      <p:sp>
        <p:nvSpPr>
          <p:cNvPr id="8" name="box-85"/>
          <p:cNvSpPr/>
          <p:nvPr/>
        </p:nvSpPr>
        <p:spPr>
          <a:xfrm>
            <a:off x="4343400" y="182880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9" name="boxtext-86"/>
          <p:cNvSpPr txBox="1"/>
          <p:nvPr/>
        </p:nvSpPr>
        <p:spPr>
          <a:xfrm>
            <a:off x="4343400" y="1828800"/>
            <a:ext cx="4343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② 오란다 색 화소만 (HSV 색상 5~21)</a:t>
            </a:r>
            <a:endParaRPr lang="en-US" sz="1300" dirty="0"/>
          </a:p>
        </p:txBody>
      </p:sp>
      <p:sp>
        <p:nvSpPr>
          <p:cNvPr id="10" name="box-87"/>
          <p:cNvSpPr/>
          <p:nvPr/>
        </p:nvSpPr>
        <p:spPr>
          <a:xfrm>
            <a:off x="4343400" y="237744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1" name="boxtext-88"/>
          <p:cNvSpPr txBox="1"/>
          <p:nvPr/>
        </p:nvSpPr>
        <p:spPr>
          <a:xfrm>
            <a:off x="4343400" y="2377440"/>
            <a:ext cx="4343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③ 둘레가 검은 매트? → 트레이 안 제외</a:t>
            </a:r>
            <a:endParaRPr lang="en-US" sz="1300" dirty="0"/>
          </a:p>
        </p:txBody>
      </p:sp>
      <p:sp>
        <p:nvSpPr>
          <p:cNvPr id="12" name="box-89"/>
          <p:cNvSpPr/>
          <p:nvPr/>
        </p:nvSpPr>
        <p:spPr>
          <a:xfrm>
            <a:off x="4343400" y="292608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3" name="boxtext-90"/>
          <p:cNvSpPr txBox="1"/>
          <p:nvPr/>
        </p:nvSpPr>
        <p:spPr>
          <a:xfrm>
            <a:off x="4343400" y="2926080"/>
            <a:ext cx="4343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④ 크기 ≥ 600px → 초코송이 제외</a:t>
            </a:r>
            <a:endParaRPr lang="en-US" sz="1300" dirty="0"/>
          </a:p>
        </p:txBody>
      </p:sp>
      <p:sp>
        <p:nvSpPr>
          <p:cNvPr id="14" name="box-91"/>
          <p:cNvSpPr/>
          <p:nvPr/>
        </p:nvSpPr>
        <p:spPr>
          <a:xfrm>
            <a:off x="4343400" y="347472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15" name="boxtext-92"/>
          <p:cNvSpPr txBox="1"/>
          <p:nvPr/>
        </p:nvSpPr>
        <p:spPr>
          <a:xfrm>
            <a:off x="4343400" y="3474720"/>
            <a:ext cx="4343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⑤ 붙은 덩어리는 면적으로 나눠 센다</a:t>
            </a:r>
            <a:endParaRPr lang="en-US" sz="1300" dirty="0"/>
          </a:p>
        </p:txBody>
      </p:sp>
      <p:sp>
        <p:nvSpPr>
          <p:cNvPr id="16" name="card-93"/>
          <p:cNvSpPr/>
          <p:nvPr/>
        </p:nvSpPr>
        <p:spPr>
          <a:xfrm>
            <a:off x="4343400" y="4069080"/>
            <a:ext cx="434340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7" name="cardtext-94"/>
          <p:cNvSpPr txBox="1"/>
          <p:nvPr/>
        </p:nvSpPr>
        <p:spPr>
          <a:xfrm>
            <a:off x="4453128" y="4142232"/>
            <a:ext cx="4123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330"/>
                </a:solidFill>
              </a:rPr>
              <a:t>흔들림에 강하게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4A5366"/>
                </a:solidFill>
              </a:rPr>
              <a:t>5장(0.1초 간격) 중앙값 · 안 줄면 0.7초 뒤 한 번 더 확인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판단: 코드가 정하고, LLM은 말만 한다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LLM이 허용 밖 행동을 고르면 행동도 대사도 버리고 규칙으로 바꾼다</a:t>
            </a:r>
            <a:endParaRPr lang="en-US" sz="1400" dirty="0"/>
          </a:p>
        </p:txBody>
      </p:sp>
      <p:sp>
        <p:nvSpPr>
          <p:cNvPr id="4" name="box-95"/>
          <p:cNvSpPr/>
          <p:nvPr/>
        </p:nvSpPr>
        <p:spPr>
          <a:xfrm>
            <a:off x="457200" y="132588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5" name="boxtext-96"/>
          <p:cNvSpPr txBox="1"/>
          <p:nvPr/>
        </p:nvSpPr>
        <p:spPr>
          <a:xfrm>
            <a:off x="457200" y="1325880"/>
            <a:ext cx="12344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남은 개수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카메라 / 추정</a:t>
            </a:r>
            <a:endParaRPr lang="en-US" sz="1300" dirty="0"/>
          </a:p>
        </p:txBody>
      </p:sp>
      <p:sp>
        <p:nvSpPr>
          <p:cNvPr id="6" name="box-97"/>
          <p:cNvSpPr/>
          <p:nvPr/>
        </p:nvSpPr>
        <p:spPr>
          <a:xfrm>
            <a:off x="1920240" y="13258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7" name="boxtext-98"/>
          <p:cNvSpPr txBox="1"/>
          <p:nvPr/>
        </p:nvSpPr>
        <p:spPr>
          <a:xfrm>
            <a:off x="192024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코드 가드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행동 1개 결정</a:t>
            </a:r>
            <a:endParaRPr lang="en-US" sz="1300" dirty="0"/>
          </a:p>
        </p:txBody>
      </p:sp>
      <p:sp>
        <p:nvSpPr>
          <p:cNvPr id="8" name="box-99"/>
          <p:cNvSpPr/>
          <p:nvPr/>
        </p:nvSpPr>
        <p:spPr>
          <a:xfrm>
            <a:off x="3520440" y="13258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EFE5F9"/>
          </a:solidFill>
          <a:ln w="19050">
            <a:solidFill>
              <a:srgbClr val="7A3FB5"/>
            </a:solidFill>
            <a:prstDash val="solid"/>
          </a:ln>
        </p:spPr>
      </p:sp>
      <p:sp>
        <p:nvSpPr>
          <p:cNvPr id="9" name="boxtext-100"/>
          <p:cNvSpPr txBox="1"/>
          <p:nvPr/>
        </p:nvSpPr>
        <p:spPr>
          <a:xfrm>
            <a:off x="3520440" y="1325880"/>
            <a:ext cx="10058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대사만</a:t>
            </a:r>
            <a:endParaRPr lang="en-US" sz="1300" dirty="0"/>
          </a:p>
        </p:txBody>
      </p:sp>
      <p:sp>
        <p:nvSpPr>
          <p:cNvPr id="10" name="arrow-101"/>
          <p:cNvSpPr/>
          <p:nvPr/>
        </p:nvSpPr>
        <p:spPr>
          <a:xfrm>
            <a:off x="1691640" y="1664208"/>
            <a:ext cx="228600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1" name="arrow-102"/>
          <p:cNvSpPr/>
          <p:nvPr/>
        </p:nvSpPr>
        <p:spPr>
          <a:xfrm>
            <a:off x="3291840" y="1664208"/>
            <a:ext cx="228600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2" name="arrow-103"/>
          <p:cNvSpPr/>
          <p:nvPr/>
        </p:nvSpPr>
        <p:spPr>
          <a:xfrm>
            <a:off x="2606040" y="2011680"/>
            <a:ext cx="914" cy="228600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3" name="box-104"/>
          <p:cNvSpPr/>
          <p:nvPr/>
        </p:nvSpPr>
        <p:spPr>
          <a:xfrm>
            <a:off x="1920240" y="2240280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4" name="boxtext-105"/>
          <p:cNvSpPr txBox="1"/>
          <p:nvPr/>
        </p:nvSpPr>
        <p:spPr>
          <a:xfrm>
            <a:off x="1920240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0개 → 끝</a:t>
            </a:r>
            <a:endParaRPr lang="en-US" sz="1200" dirty="0"/>
          </a:p>
        </p:txBody>
      </p:sp>
      <p:sp>
        <p:nvSpPr>
          <p:cNvPr id="15" name="box-106"/>
          <p:cNvSpPr/>
          <p:nvPr/>
        </p:nvSpPr>
        <p:spPr>
          <a:xfrm>
            <a:off x="1920240" y="2770632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1DD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6" name="boxtext-107"/>
          <p:cNvSpPr txBox="1"/>
          <p:nvPr/>
        </p:nvSpPr>
        <p:spPr>
          <a:xfrm>
            <a:off x="1920240" y="2770632"/>
            <a:ext cx="13716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절반 → 도리도리</a:t>
            </a:r>
            <a:endParaRPr lang="en-US" sz="1200" dirty="0"/>
          </a:p>
        </p:txBody>
      </p:sp>
      <p:sp>
        <p:nvSpPr>
          <p:cNvPr id="17" name="box-108"/>
          <p:cNvSpPr/>
          <p:nvPr/>
        </p:nvSpPr>
        <p:spPr>
          <a:xfrm>
            <a:off x="1920240" y="330098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18" name="boxtext-109"/>
          <p:cNvSpPr txBox="1"/>
          <p:nvPr/>
        </p:nvSpPr>
        <p:spPr>
          <a:xfrm>
            <a:off x="1920240" y="3300984"/>
            <a:ext cx="13716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330"/>
                </a:solidFill>
              </a:rPr>
              <a:t>그 외 → 옮기기</a:t>
            </a:r>
            <a:endParaRPr lang="en-US" sz="1200" dirty="0"/>
          </a:p>
        </p:txBody>
      </p:sp>
      <p:sp>
        <p:nvSpPr>
          <p:cNvPr id="19" name="card-110"/>
          <p:cNvSpPr/>
          <p:nvPr/>
        </p:nvSpPr>
        <p:spPr>
          <a:xfrm>
            <a:off x="457200" y="388620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0" name="cardtext-111"/>
          <p:cNvSpPr txBox="1"/>
          <p:nvPr/>
        </p:nvSpPr>
        <p:spPr>
          <a:xfrm>
            <a:off x="566928" y="3959352"/>
            <a:ext cx="3849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330"/>
                </a:solidFill>
              </a:rPr>
              <a:t>LLM이 실패해도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Claude → NVIDIA → 규칙 대사 (8초 제한)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“세 번째 오란다…” 번호도 코드가 계산</a:t>
            </a:r>
            <a:endParaRPr lang="en-US" sz="1300" dirty="0"/>
          </a:p>
        </p:txBody>
      </p:sp>
      <p:sp>
        <p:nvSpPr>
          <p:cNvPr id="21" name="refuse-card"/>
          <p:cNvSpPr/>
          <p:nvPr/>
        </p:nvSpPr>
        <p:spPr>
          <a:xfrm>
            <a:off x="4846320" y="132588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거부 시점 = 처음 센 개수 ÷ 2 (올림)</a:t>
            </a:r>
            <a:endParaRPr lang="en-US" sz="1500" dirty="0"/>
          </a:p>
        </p:txBody>
      </p:sp>
      <p:sp>
        <p:nvSpPr>
          <p:cNvPr id="23" name="rlabel-112"/>
          <p:cNvSpPr txBox="1"/>
          <p:nvPr/>
        </p:nvSpPr>
        <p:spPr>
          <a:xfrm>
            <a:off x="4983480" y="19202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30"/>
                </a:solidFill>
              </a:rPr>
              <a:t>전체 3</a:t>
            </a:r>
            <a:endParaRPr lang="en-US" sz="1200" dirty="0"/>
          </a:p>
        </p:txBody>
      </p:sp>
      <p:sp>
        <p:nvSpPr>
          <p:cNvPr id="24" name="rcell-113"/>
          <p:cNvSpPr/>
          <p:nvPr/>
        </p:nvSpPr>
        <p:spPr>
          <a:xfrm>
            <a:off x="5715000" y="195681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25" name="rcell-114"/>
          <p:cNvSpPr/>
          <p:nvPr/>
        </p:nvSpPr>
        <p:spPr>
          <a:xfrm>
            <a:off x="6044184" y="195681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26" name="rcell-115"/>
          <p:cNvSpPr/>
          <p:nvPr/>
        </p:nvSpPr>
        <p:spPr>
          <a:xfrm>
            <a:off x="6373368" y="195681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7" name="rat-116"/>
          <p:cNvSpPr txBox="1"/>
          <p:nvPr/>
        </p:nvSpPr>
        <p:spPr>
          <a:xfrm>
            <a:off x="6748272" y="19202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2개 뒤 거부</a:t>
            </a:r>
            <a:endParaRPr lang="en-US" sz="1100" dirty="0"/>
          </a:p>
        </p:txBody>
      </p:sp>
      <p:sp>
        <p:nvSpPr>
          <p:cNvPr id="28" name="rlabel-117"/>
          <p:cNvSpPr txBox="1"/>
          <p:nvPr/>
        </p:nvSpPr>
        <p:spPr>
          <a:xfrm>
            <a:off x="4983480" y="24688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30"/>
                </a:solidFill>
              </a:rPr>
              <a:t>전체 4</a:t>
            </a:r>
            <a:endParaRPr lang="en-US" sz="1200" dirty="0"/>
          </a:p>
        </p:txBody>
      </p:sp>
      <p:sp>
        <p:nvSpPr>
          <p:cNvPr id="29" name="rcell-118"/>
          <p:cNvSpPr/>
          <p:nvPr/>
        </p:nvSpPr>
        <p:spPr>
          <a:xfrm>
            <a:off x="5715000" y="250545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30" name="rcell-119"/>
          <p:cNvSpPr/>
          <p:nvPr/>
        </p:nvSpPr>
        <p:spPr>
          <a:xfrm>
            <a:off x="6044184" y="250545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31" name="rcell-120"/>
          <p:cNvSpPr/>
          <p:nvPr/>
        </p:nvSpPr>
        <p:spPr>
          <a:xfrm>
            <a:off x="6373368" y="250545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rcell-121"/>
          <p:cNvSpPr/>
          <p:nvPr/>
        </p:nvSpPr>
        <p:spPr>
          <a:xfrm>
            <a:off x="6702552" y="250545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3" name="rat-122"/>
          <p:cNvSpPr txBox="1"/>
          <p:nvPr/>
        </p:nvSpPr>
        <p:spPr>
          <a:xfrm>
            <a:off x="7077456" y="24688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2개 뒤 거부</a:t>
            </a:r>
            <a:endParaRPr lang="en-US" sz="1100" dirty="0"/>
          </a:p>
        </p:txBody>
      </p:sp>
      <p:sp>
        <p:nvSpPr>
          <p:cNvPr id="34" name="rlabel-123"/>
          <p:cNvSpPr txBox="1"/>
          <p:nvPr/>
        </p:nvSpPr>
        <p:spPr>
          <a:xfrm>
            <a:off x="4983480" y="30175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30"/>
                </a:solidFill>
              </a:rPr>
              <a:t>전체 5</a:t>
            </a:r>
            <a:endParaRPr lang="en-US" sz="1200" dirty="0"/>
          </a:p>
        </p:txBody>
      </p:sp>
      <p:sp>
        <p:nvSpPr>
          <p:cNvPr id="35" name="rcell-124"/>
          <p:cNvSpPr/>
          <p:nvPr/>
        </p:nvSpPr>
        <p:spPr>
          <a:xfrm>
            <a:off x="5715000" y="305409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36" name="rcell-125"/>
          <p:cNvSpPr/>
          <p:nvPr/>
        </p:nvSpPr>
        <p:spPr>
          <a:xfrm>
            <a:off x="6044184" y="305409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37" name="rcell-126"/>
          <p:cNvSpPr/>
          <p:nvPr/>
        </p:nvSpPr>
        <p:spPr>
          <a:xfrm>
            <a:off x="6373368" y="305409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38" name="rcell-127"/>
          <p:cNvSpPr/>
          <p:nvPr/>
        </p:nvSpPr>
        <p:spPr>
          <a:xfrm>
            <a:off x="6702552" y="305409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9" name="rcell-128"/>
          <p:cNvSpPr/>
          <p:nvPr/>
        </p:nvSpPr>
        <p:spPr>
          <a:xfrm>
            <a:off x="7031736" y="305409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0" name="rat-129"/>
          <p:cNvSpPr txBox="1"/>
          <p:nvPr/>
        </p:nvSpPr>
        <p:spPr>
          <a:xfrm>
            <a:off x="7406640" y="3017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3개 뒤 거부</a:t>
            </a:r>
            <a:endParaRPr lang="en-US" sz="1100" dirty="0"/>
          </a:p>
        </p:txBody>
      </p:sp>
      <p:sp>
        <p:nvSpPr>
          <p:cNvPr id="41" name="rlabel-130"/>
          <p:cNvSpPr txBox="1"/>
          <p:nvPr/>
        </p:nvSpPr>
        <p:spPr>
          <a:xfrm>
            <a:off x="4983480" y="35661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330"/>
                </a:solidFill>
              </a:rPr>
              <a:t>전체 6</a:t>
            </a:r>
            <a:endParaRPr lang="en-US" sz="1200" dirty="0"/>
          </a:p>
        </p:txBody>
      </p:sp>
      <p:sp>
        <p:nvSpPr>
          <p:cNvPr id="42" name="rcell-131"/>
          <p:cNvSpPr/>
          <p:nvPr/>
        </p:nvSpPr>
        <p:spPr>
          <a:xfrm>
            <a:off x="5715000" y="360273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43" name="rcell-132"/>
          <p:cNvSpPr/>
          <p:nvPr/>
        </p:nvSpPr>
        <p:spPr>
          <a:xfrm>
            <a:off x="6044184" y="360273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44" name="rcell-133"/>
          <p:cNvSpPr/>
          <p:nvPr/>
        </p:nvSpPr>
        <p:spPr>
          <a:xfrm>
            <a:off x="6373368" y="360273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45" name="rcell-134"/>
          <p:cNvSpPr/>
          <p:nvPr/>
        </p:nvSpPr>
        <p:spPr>
          <a:xfrm>
            <a:off x="6702552" y="360273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6" name="rcell-135"/>
          <p:cNvSpPr/>
          <p:nvPr/>
        </p:nvSpPr>
        <p:spPr>
          <a:xfrm>
            <a:off x="7031736" y="360273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7" name="rcell-136"/>
          <p:cNvSpPr/>
          <p:nvPr/>
        </p:nvSpPr>
        <p:spPr>
          <a:xfrm>
            <a:off x="7360920" y="3602736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48" name="rat-137"/>
          <p:cNvSpPr txBox="1"/>
          <p:nvPr/>
        </p:nvSpPr>
        <p:spPr>
          <a:xfrm>
            <a:off x="7735824" y="35661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3개 뒤 거부</a:t>
            </a:r>
            <a:endParaRPr lang="en-US" sz="1100" dirty="0"/>
          </a:p>
        </p:txBody>
      </p:sp>
      <p:sp>
        <p:nvSpPr>
          <p:cNvPr id="49" name="legend-a"/>
          <p:cNvSpPr/>
          <p:nvPr/>
        </p:nvSpPr>
        <p:spPr>
          <a:xfrm>
            <a:off x="4983480" y="422452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30368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거부 전 옮김</a:t>
            </a:r>
            <a:endParaRPr lang="en-US" sz="1100" dirty="0"/>
          </a:p>
        </p:txBody>
      </p:sp>
      <p:sp>
        <p:nvSpPr>
          <p:cNvPr id="51" name="legend-n"/>
          <p:cNvSpPr/>
          <p:nvPr/>
        </p:nvSpPr>
        <p:spPr>
          <a:xfrm>
            <a:off x="6400800" y="422452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47688" y="4178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달랜 뒤 옮김 (거부 없이)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데이터셋과 학습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사람이 리더 팔로 보여 주면(텔레옵) 로봇이 따라 배운다 · physical-ai-studio에서 ACT 학습</a:t>
            </a:r>
            <a:endParaRPr lang="en-US" sz="1400" dirty="0"/>
          </a:p>
        </p:txBody>
      </p:sp>
      <p:pic>
        <p:nvPicPr>
          <p:cNvPr id="4" name="training-photo" descr="녹화 현장: 검은 매트 위 과자와 트레이, 로봇팔, 카메라 거치대 두 개, 노트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33172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94"/>
                </a:solidFill>
              </a:rPr>
              <a:t>녹화 현장 · 위쪽·사이드 카메라 거치대</a:t>
            </a:r>
            <a:endParaRPr lang="en-US" sz="1000" dirty="0"/>
          </a:p>
        </p:txBody>
      </p:sp>
      <p:sp>
        <p:nvSpPr>
          <p:cNvPr id="6" name="box-138"/>
          <p:cNvSpPr/>
          <p:nvPr/>
        </p:nvSpPr>
        <p:spPr>
          <a:xfrm>
            <a:off x="3017520" y="123444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7" name="boxtext-139"/>
          <p:cNvSpPr txBox="1"/>
          <p:nvPr/>
        </p:nvSpPr>
        <p:spPr>
          <a:xfrm>
            <a:off x="30175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텔레옵 녹화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30fps 시범</a:t>
            </a:r>
            <a:endParaRPr lang="en-US" sz="1300" dirty="0"/>
          </a:p>
        </p:txBody>
      </p:sp>
      <p:sp>
        <p:nvSpPr>
          <p:cNvPr id="8" name="arrow-140"/>
          <p:cNvSpPr/>
          <p:nvPr/>
        </p:nvSpPr>
        <p:spPr>
          <a:xfrm>
            <a:off x="4297680" y="1572768"/>
            <a:ext cx="155448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9" name="box-141"/>
          <p:cNvSpPr/>
          <p:nvPr/>
        </p:nvSpPr>
        <p:spPr>
          <a:xfrm>
            <a:off x="4453128" y="123444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10" name="boxtext-142"/>
          <p:cNvSpPr txBox="1"/>
          <p:nvPr/>
        </p:nvSpPr>
        <p:spPr>
          <a:xfrm>
            <a:off x="4453128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데이터셋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관절 6 + 카메라 3</a:t>
            </a:r>
            <a:endParaRPr lang="en-US" sz="1300" dirty="0"/>
          </a:p>
        </p:txBody>
      </p:sp>
      <p:sp>
        <p:nvSpPr>
          <p:cNvPr id="11" name="arrow-143"/>
          <p:cNvSpPr/>
          <p:nvPr/>
        </p:nvSpPr>
        <p:spPr>
          <a:xfrm>
            <a:off x="5733288" y="1572768"/>
            <a:ext cx="155448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2" name="box-144"/>
          <p:cNvSpPr/>
          <p:nvPr/>
        </p:nvSpPr>
        <p:spPr>
          <a:xfrm>
            <a:off x="5888736" y="123444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EFE5F9"/>
          </a:solidFill>
          <a:ln w="19050">
            <a:solidFill>
              <a:srgbClr val="7A3FB5"/>
            </a:solidFill>
            <a:prstDash val="solid"/>
          </a:ln>
        </p:spPr>
      </p:sp>
      <p:sp>
        <p:nvSpPr>
          <p:cNvPr id="13" name="boxtext-145"/>
          <p:cNvSpPr txBox="1"/>
          <p:nvPr/>
        </p:nvSpPr>
        <p:spPr>
          <a:xfrm>
            <a:off x="5888736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ACT 학습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Studio · ResNet18</a:t>
            </a:r>
            <a:endParaRPr lang="en-US" sz="1300" dirty="0"/>
          </a:p>
        </p:txBody>
      </p:sp>
      <p:sp>
        <p:nvSpPr>
          <p:cNvPr id="14" name="arrow-146"/>
          <p:cNvSpPr/>
          <p:nvPr/>
        </p:nvSpPr>
        <p:spPr>
          <a:xfrm>
            <a:off x="7168896" y="1572768"/>
            <a:ext cx="155448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5" name="box-147"/>
          <p:cNvSpPr/>
          <p:nvPr/>
        </p:nvSpPr>
        <p:spPr>
          <a:xfrm>
            <a:off x="7324344" y="123444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16" name="boxtext-148"/>
          <p:cNvSpPr txBox="1"/>
          <p:nvPr/>
        </p:nvSpPr>
        <p:spPr>
          <a:xfrm>
            <a:off x="7324344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330"/>
                </a:solidFill>
              </a:rPr>
              <a:t>내보내기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OpenVINO IR</a:t>
            </a:r>
            <a:endParaRPr lang="en-US" sz="1300" dirty="0"/>
          </a:p>
        </p:txBody>
      </p:sp>
      <p:graphicFrame>
        <p:nvGraphicFramePr>
          <p:cNvPr id="8" name="trai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50876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330"/>
                          </a:solidFill>
                        </a:rPr>
                        <a:t>오란다 집기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330"/>
                          </a:solidFill>
                        </a:rPr>
                        <a:t>도리도리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데이터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31개 · 9,111프레임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약 1천 프레임*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학습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5 에포크 · 배치 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100 에포크 · 배치 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train loss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0.35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0.07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val loss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0.66 (계속 감소)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366"/>
                          </a:solidFill>
                        </a:rPr>
                        <a:t>0.49 (최저 0.45)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" name="loss-pickup" descr="오란다 학습 손실(왼쪽)과 검증 손실(오른쪽) 그래프: 둘 다 끝까지 내려간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03120"/>
            <a:ext cx="1874520" cy="5852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12280" y="2706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394"/>
                </a:solidFill>
              </a:rPr>
              <a:t>오란다: 학습 · 검증 손실</a:t>
            </a:r>
            <a:endParaRPr lang="en-US" sz="900" dirty="0"/>
          </a:p>
        </p:txBody>
      </p:sp>
      <p:pic>
        <p:nvPicPr>
          <p:cNvPr id="20" name="loss-dori" descr="도리도리 학습 손실과 검증 손실 그래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71800"/>
            <a:ext cx="1874520" cy="6035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3593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394"/>
                </a:solidFill>
              </a:rPr>
              <a:t>도리도리: 학습 · 검증 손실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3017520" y="3794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394"/>
                </a:solidFill>
              </a:rPr>
              <a:t>* 학습 단계 수 × 배치로 추정</a:t>
            </a:r>
            <a:endParaRPr lang="en-US" sz="900" dirty="0"/>
          </a:p>
        </p:txBody>
      </p:sp>
      <p:sp>
        <p:nvSpPr>
          <p:cNvPr id="23" name="card-149"/>
          <p:cNvSpPr/>
          <p:nvPr/>
        </p:nvSpPr>
        <p:spPr>
          <a:xfrm>
            <a:off x="3017520" y="4069080"/>
            <a:ext cx="5669280" cy="685800"/>
          </a:xfrm>
          <a:prstGeom prst="roundRect">
            <a:avLst>
              <a:gd name="adj" fmla="val 10667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4" name="cardtext-150"/>
          <p:cNvSpPr txBox="1"/>
          <p:nvPr/>
        </p:nvSpPr>
        <p:spPr>
          <a:xfrm>
            <a:off x="3127248" y="4142232"/>
            <a:ext cx="54498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D2330"/>
                </a:solidFill>
              </a:rPr>
              <a:t>데이터가 말해 준 것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366"/>
                </a:solidFill>
              </a:rPr>
              <a:t>오란다는 덜 학습(검증 손실이 아직 내려감) · 도리도리는 데이터 부족 · 과적합 → 실기에서 거의 안 흔듦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행동: ACT 정책을 OpenVINO로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physical-ai-studio에서 녹화 · 학습 → OpenVINO로 내보내 노트북 CPU에서 추론</a:t>
            </a:r>
            <a:endParaRPr lang="en-US" sz="1400" dirty="0"/>
          </a:p>
        </p:txBody>
      </p:sp>
      <p:sp>
        <p:nvSpPr>
          <p:cNvPr id="4" name="box-151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5" name="boxtext-152"/>
          <p:cNvSpPr txBox="1"/>
          <p:nvPr/>
        </p:nvSpPr>
        <p:spPr>
          <a:xfrm>
            <a:off x="4572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녹화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리더 팔 텔레옵 · 31 에피소드</a:t>
            </a:r>
            <a:endParaRPr lang="en-US" sz="1500" dirty="0"/>
          </a:p>
        </p:txBody>
      </p:sp>
      <p:sp>
        <p:nvSpPr>
          <p:cNvPr id="6" name="arrow-153"/>
          <p:cNvSpPr/>
          <p:nvPr/>
        </p:nvSpPr>
        <p:spPr>
          <a:xfrm>
            <a:off x="2286000" y="1645920"/>
            <a:ext cx="301752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7" name="box-154"/>
          <p:cNvSpPr/>
          <p:nvPr/>
        </p:nvSpPr>
        <p:spPr>
          <a:xfrm>
            <a:off x="2587752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8" name="boxtext-155"/>
          <p:cNvSpPr txBox="1"/>
          <p:nvPr/>
        </p:nvSpPr>
        <p:spPr>
          <a:xfrm>
            <a:off x="2587752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학습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ACT (ResNet18) · chunk 100</a:t>
            </a:r>
            <a:endParaRPr lang="en-US" sz="1500" dirty="0"/>
          </a:p>
        </p:txBody>
      </p:sp>
      <p:sp>
        <p:nvSpPr>
          <p:cNvPr id="9" name="arrow-156"/>
          <p:cNvSpPr/>
          <p:nvPr/>
        </p:nvSpPr>
        <p:spPr>
          <a:xfrm>
            <a:off x="4416552" y="1645920"/>
            <a:ext cx="301752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0" name="box-157"/>
          <p:cNvSpPr/>
          <p:nvPr/>
        </p:nvSpPr>
        <p:spPr>
          <a:xfrm>
            <a:off x="4718304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FE5F9"/>
          </a:solidFill>
          <a:ln w="19050">
            <a:solidFill>
              <a:srgbClr val="7A3FB5"/>
            </a:solidFill>
            <a:prstDash val="solid"/>
          </a:ln>
        </p:spPr>
      </p:sp>
      <p:sp>
        <p:nvSpPr>
          <p:cNvPr id="11" name="boxtext-158"/>
          <p:cNvSpPr txBox="1"/>
          <p:nvPr/>
        </p:nvSpPr>
        <p:spPr>
          <a:xfrm>
            <a:off x="4718304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내보내기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OpenVINO IR (act.xml)</a:t>
            </a:r>
            <a:endParaRPr lang="en-US" sz="1500" dirty="0"/>
          </a:p>
        </p:txBody>
      </p:sp>
      <p:sp>
        <p:nvSpPr>
          <p:cNvPr id="12" name="arrow-159"/>
          <p:cNvSpPr/>
          <p:nvPr/>
        </p:nvSpPr>
        <p:spPr>
          <a:xfrm>
            <a:off x="6547104" y="1645920"/>
            <a:ext cx="301752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3" name="box-160"/>
          <p:cNvSpPr/>
          <p:nvPr/>
        </p:nvSpPr>
        <p:spPr>
          <a:xfrm>
            <a:off x="6848856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14" name="boxtext-161"/>
          <p:cNvSpPr txBox="1"/>
          <p:nvPr/>
        </p:nvSpPr>
        <p:spPr>
          <a:xfrm>
            <a:off x="6848856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실행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physicalai 런타임 · CPU</a:t>
            </a:r>
            <a:endParaRPr lang="en-US" sz="1500" dirty="0"/>
          </a:p>
        </p:txBody>
      </p:sp>
      <p:sp>
        <p:nvSpPr>
          <p:cNvPr id="15" name="grip-card"/>
          <p:cNvSpPr/>
          <p:nvPr/>
        </p:nvSpPr>
        <p:spPr>
          <a:xfrm>
            <a:off x="457200" y="228600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30"/>
                </a:solidFill>
              </a:rPr>
              <a:t>놓는 순간을 그리퍼 값으로 감지 (실측)</a:t>
            </a:r>
            <a:endParaRPr lang="en-US" sz="1400" dirty="0"/>
          </a:p>
        </p:txBody>
      </p:sp>
      <p:sp>
        <p:nvSpPr>
          <p:cNvPr id="17" name="grip-axis"/>
          <p:cNvSpPr/>
          <p:nvPr/>
        </p:nvSpPr>
        <p:spPr>
          <a:xfrm>
            <a:off x="685800" y="3246120"/>
            <a:ext cx="3657600" cy="0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</a:ln>
        </p:spPr>
      </p:sp>
      <p:sp>
        <p:nvSpPr>
          <p:cNvPr id="18" name="grip-empty"/>
          <p:cNvSpPr/>
          <p:nvPr/>
        </p:nvSpPr>
        <p:spPr>
          <a:xfrm>
            <a:off x="1490472" y="3136392"/>
            <a:ext cx="128016" cy="219456"/>
          </a:xfrm>
          <a:prstGeom prst="rect">
            <a:avLst/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9" name="grip-hold"/>
          <p:cNvSpPr/>
          <p:nvPr/>
        </p:nvSpPr>
        <p:spPr>
          <a:xfrm>
            <a:off x="2368296" y="3136392"/>
            <a:ext cx="219456" cy="219456"/>
          </a:xfrm>
          <a:prstGeom prst="rect">
            <a:avLst/>
          </a:prstGeom>
          <a:solidFill>
            <a:srgbClr val="FBE9D2"/>
          </a:solidFill>
          <a:ln w="12700">
            <a:solidFill>
              <a:srgbClr val="C8691A"/>
            </a:solidFill>
            <a:prstDash val="solid"/>
          </a:ln>
        </p:spPr>
      </p:sp>
      <p:sp>
        <p:nvSpPr>
          <p:cNvPr id="20" name="grip-open"/>
          <p:cNvSpPr/>
          <p:nvPr/>
        </p:nvSpPr>
        <p:spPr>
          <a:xfrm>
            <a:off x="2880360" y="3136392"/>
            <a:ext cx="1417320" cy="219456"/>
          </a:xfrm>
          <a:prstGeom prst="rect">
            <a:avLst/>
          </a:prstGeom>
          <a:solidFill>
            <a:srgbClr val="DFF3E7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21" name="grip-closed-line"/>
          <p:cNvSpPr/>
          <p:nvPr/>
        </p:nvSpPr>
        <p:spPr>
          <a:xfrm>
            <a:off x="2697480" y="3017520"/>
            <a:ext cx="0" cy="457200"/>
          </a:xfrm>
          <a:prstGeom prst="line">
            <a:avLst/>
          </a:prstGeom>
          <a:noFill/>
          <a:ln w="25400">
            <a:solidFill>
              <a:srgbClr val="2F5BD8"/>
            </a:solidFill>
            <a:prstDash val="solid"/>
          </a:ln>
        </p:spPr>
      </p:sp>
      <p:sp>
        <p:nvSpPr>
          <p:cNvPr id="22" name="grip-open-line"/>
          <p:cNvSpPr/>
          <p:nvPr/>
        </p:nvSpPr>
        <p:spPr>
          <a:xfrm>
            <a:off x="2788920" y="3017520"/>
            <a:ext cx="0" cy="457200"/>
          </a:xfrm>
          <a:prstGeom prst="line">
            <a:avLst/>
          </a:prstGeom>
          <a:noFill/>
          <a:ln w="25400">
            <a:solidFill>
              <a:srgbClr val="B3261E"/>
            </a:solidFill>
            <a:prstDash val="solid"/>
          </a:ln>
        </p:spPr>
      </p:sp>
      <p:sp>
        <p:nvSpPr>
          <p:cNvPr id="23" name="glab-162"/>
          <p:cNvSpPr txBox="1"/>
          <p:nvPr/>
        </p:nvSpPr>
        <p:spPr>
          <a:xfrm>
            <a:off x="1088136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빈손 49~50</a:t>
            </a:r>
            <a:endParaRPr lang="en-US" sz="1000" dirty="0"/>
          </a:p>
        </p:txBody>
      </p:sp>
      <p:sp>
        <p:nvSpPr>
          <p:cNvPr id="24" name="glab-163"/>
          <p:cNvSpPr txBox="1"/>
          <p:nvPr/>
        </p:nvSpPr>
        <p:spPr>
          <a:xfrm>
            <a:off x="2286000" y="2834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닫힘 &lt;56</a:t>
            </a:r>
            <a:endParaRPr lang="en-US" sz="1000" dirty="0"/>
          </a:p>
        </p:txBody>
      </p:sp>
      <p:sp>
        <p:nvSpPr>
          <p:cNvPr id="25" name="glab-164"/>
          <p:cNvSpPr txBox="1"/>
          <p:nvPr/>
        </p:nvSpPr>
        <p:spPr>
          <a:xfrm>
            <a:off x="333756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벌림 ~79</a:t>
            </a:r>
            <a:endParaRPr lang="en-US" sz="1000" dirty="0"/>
          </a:p>
        </p:txBody>
      </p:sp>
      <p:sp>
        <p:nvSpPr>
          <p:cNvPr id="26" name="glab-165"/>
          <p:cNvSpPr txBox="1"/>
          <p:nvPr/>
        </p:nvSpPr>
        <p:spPr>
          <a:xfrm>
            <a:off x="1563624" y="34290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쥠 54~55</a:t>
            </a:r>
            <a:endParaRPr lang="en-US" sz="1000" dirty="0"/>
          </a:p>
        </p:txBody>
      </p:sp>
      <p:sp>
        <p:nvSpPr>
          <p:cNvPr id="27" name="glab-166"/>
          <p:cNvSpPr txBox="1"/>
          <p:nvPr/>
        </p:nvSpPr>
        <p:spPr>
          <a:xfrm>
            <a:off x="2834640" y="3429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열림 &gt;56.5 (0.15초)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닫힘 → 열림이면 ACT 멈춤 → 코드가 lift → home. 녹화 31개 시뮬레이션: 23개가 놓는 순간 정지, 조기 정지 0</a:t>
            </a:r>
            <a:endParaRPr lang="en-US" sz="1100" dirty="0"/>
          </a:p>
        </p:txBody>
      </p:sp>
      <p:sp>
        <p:nvSpPr>
          <p:cNvPr id="29" name="card-167"/>
          <p:cNvSpPr/>
          <p:nvPr/>
        </p:nvSpPr>
        <p:spPr>
          <a:xfrm>
            <a:off x="4846320" y="22860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0" name="cardtext-168"/>
          <p:cNvSpPr txBox="1"/>
          <p:nvPr/>
        </p:nvSpPr>
        <p:spPr>
          <a:xfrm>
            <a:off x="4956048" y="2359152"/>
            <a:ext cx="36210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330"/>
                </a:solidFill>
              </a:rPr>
              <a:t>정책 입력 · 출력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관절 6개 + 카메라 3대, 384×384 레터박스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출력 100스텝 관절 목표 (약 3.3초 분량)</a:t>
            </a:r>
            <a:endParaRPr lang="en-US" sz="1400" dirty="0"/>
          </a:p>
        </p:txBody>
      </p:sp>
      <p:sp>
        <p:nvSpPr>
          <p:cNvPr id="31" name="card-169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32" name="cardtext-170"/>
          <p:cNvSpPr txBox="1"/>
          <p:nvPr/>
        </p:nvSpPr>
        <p:spPr>
          <a:xfrm>
            <a:off x="4956048" y="3685032"/>
            <a:ext cx="36210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330"/>
                </a:solidFill>
              </a:rPr>
              <a:t>도리도리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학습 모델은 실기에서 몸통을 ±1만 움직임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거부 · 채팅은 코드 도리도리, 버튼으로 모델도 시험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대화: 말로 시키고, 말로 달랜다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음성 인식은 노트북 안에서(OpenVINO), 대사 생성 · 음성 합성은 API</a:t>
            </a:r>
            <a:endParaRPr lang="en-US" sz="1400" dirty="0"/>
          </a:p>
        </p:txBody>
      </p:sp>
      <p:sp>
        <p:nvSpPr>
          <p:cNvPr id="4" name="box-171"/>
          <p:cNvSpPr/>
          <p:nvPr/>
        </p:nvSpPr>
        <p:spPr>
          <a:xfrm>
            <a:off x="457200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5" name="boxtext-172"/>
          <p:cNvSpPr txBox="1"/>
          <p:nvPr/>
        </p:nvSpPr>
        <p:spPr>
          <a:xfrm>
            <a:off x="457200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말하기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“보리야 힘내 줘”</a:t>
            </a:r>
            <a:endParaRPr lang="en-US" sz="1500" dirty="0"/>
          </a:p>
        </p:txBody>
      </p:sp>
      <p:sp>
        <p:nvSpPr>
          <p:cNvPr id="6" name="arrow-173"/>
          <p:cNvSpPr/>
          <p:nvPr/>
        </p:nvSpPr>
        <p:spPr>
          <a:xfrm>
            <a:off x="1920240" y="1664208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7" name="box-174"/>
          <p:cNvSpPr/>
          <p:nvPr/>
        </p:nvSpPr>
        <p:spPr>
          <a:xfrm>
            <a:off x="2139696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FF3E7"/>
          </a:solidFill>
          <a:ln w="19050">
            <a:solidFill>
              <a:srgbClr val="1B7F4B"/>
            </a:solidFill>
            <a:prstDash val="solid"/>
          </a:ln>
        </p:spPr>
      </p:sp>
      <p:sp>
        <p:nvSpPr>
          <p:cNvPr id="8" name="boxtext-175"/>
          <p:cNvSpPr txBox="1"/>
          <p:nvPr/>
        </p:nvSpPr>
        <p:spPr>
          <a:xfrm>
            <a:off x="2139696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STT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Whisper · OpenVINO</a:t>
            </a:r>
            <a:endParaRPr lang="en-US" sz="1500" dirty="0"/>
          </a:p>
        </p:txBody>
      </p:sp>
      <p:sp>
        <p:nvSpPr>
          <p:cNvPr id="9" name="arrow-176"/>
          <p:cNvSpPr/>
          <p:nvPr/>
        </p:nvSpPr>
        <p:spPr>
          <a:xfrm>
            <a:off x="3602736" y="1664208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0" name="box-177"/>
          <p:cNvSpPr/>
          <p:nvPr/>
        </p:nvSpPr>
        <p:spPr>
          <a:xfrm>
            <a:off x="3822192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FE5F9"/>
          </a:solidFill>
          <a:ln w="19050">
            <a:solidFill>
              <a:srgbClr val="7A3FB5"/>
            </a:solidFill>
            <a:prstDash val="solid"/>
          </a:ln>
        </p:spPr>
      </p:sp>
      <p:sp>
        <p:nvSpPr>
          <p:cNvPr id="11" name="boxtext-178"/>
          <p:cNvSpPr txBox="1"/>
          <p:nvPr/>
        </p:nvSpPr>
        <p:spPr>
          <a:xfrm>
            <a:off x="3822192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의도 · 대사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LLM → resume / chat</a:t>
            </a:r>
            <a:endParaRPr lang="en-US" sz="1500" dirty="0"/>
          </a:p>
        </p:txBody>
      </p:sp>
      <p:sp>
        <p:nvSpPr>
          <p:cNvPr id="12" name="arrow-179"/>
          <p:cNvSpPr/>
          <p:nvPr/>
        </p:nvSpPr>
        <p:spPr>
          <a:xfrm>
            <a:off x="5285232" y="1664208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3" name="box-180"/>
          <p:cNvSpPr/>
          <p:nvPr/>
        </p:nvSpPr>
        <p:spPr>
          <a:xfrm>
            <a:off x="5504688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3EAFC"/>
          </a:solidFill>
          <a:ln w="19050">
            <a:solidFill>
              <a:srgbClr val="2F5BD8"/>
            </a:solidFill>
            <a:prstDash val="solid"/>
          </a:ln>
        </p:spPr>
      </p:sp>
      <p:sp>
        <p:nvSpPr>
          <p:cNvPr id="14" name="boxtext-181"/>
          <p:cNvSpPr txBox="1"/>
          <p:nvPr/>
        </p:nvSpPr>
        <p:spPr>
          <a:xfrm>
            <a:off x="5504688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TTS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Gemini → Heami</a:t>
            </a:r>
            <a:endParaRPr lang="en-US" sz="1500" dirty="0"/>
          </a:p>
        </p:txBody>
      </p:sp>
      <p:sp>
        <p:nvSpPr>
          <p:cNvPr id="15" name="arrow-182"/>
          <p:cNvSpPr/>
          <p:nvPr/>
        </p:nvSpPr>
        <p:spPr>
          <a:xfrm>
            <a:off x="6967728" y="1664208"/>
            <a:ext cx="219456" cy="914"/>
          </a:xfrm>
          <a:prstGeom prst="line">
            <a:avLst/>
          </a:prstGeom>
          <a:noFill/>
          <a:ln w="19050">
            <a:solidFill>
              <a:srgbClr val="7A8394"/>
            </a:solidFill>
            <a:prstDash val="solid"/>
            <a:tailEnd type="triangle"/>
          </a:ln>
        </p:spPr>
      </p:sp>
      <p:sp>
        <p:nvSpPr>
          <p:cNvPr id="16" name="box-183"/>
          <p:cNvSpPr/>
          <p:nvPr/>
        </p:nvSpPr>
        <p:spPr>
          <a:xfrm>
            <a:off x="7187184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BE9D2"/>
          </a:solidFill>
          <a:ln w="19050">
            <a:solidFill>
              <a:srgbClr val="C8691A"/>
            </a:solidFill>
            <a:prstDash val="solid"/>
          </a:ln>
        </p:spPr>
      </p:sp>
      <p:sp>
        <p:nvSpPr>
          <p:cNvPr id="17" name="boxtext-184"/>
          <p:cNvSpPr txBox="1"/>
          <p:nvPr/>
        </p:nvSpPr>
        <p:spPr>
          <a:xfrm>
            <a:off x="7187184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330"/>
                </a:solidFill>
              </a:rPr>
              <a:t>동작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366"/>
                </a:solidFill>
              </a:rPr>
              <a:t>재개 · 옮기기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39696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394"/>
                </a:solidFill>
              </a:rPr>
              <a:t>CPU 1.2~1.8초/문장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58384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394"/>
                </a:solidFill>
              </a:rPr>
              <a:t>소리가 나기 시작하면 동작</a:t>
            </a:r>
            <a:endParaRPr lang="en-US" sz="1000" dirty="0"/>
          </a:p>
        </p:txBody>
      </p:sp>
      <p:graphicFrame>
        <p:nvGraphicFramePr>
          <p:cNvPr id="10" name="int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4206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2880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330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330"/>
                          </a:solidFill>
                        </a:rPr>
                        <a:t>받아들이는 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330"/>
                          </a:solidFill>
                        </a:rPr>
                        <a:t>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대기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작업 시작 · 잡담 · 도리도리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“오란다 옮겨줘”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거부 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재개 · 잡담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“조금만 더 힘내 줘”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두 번 놓친 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재개 · 잡담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“이어서 해줘”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작업 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잡담 (작업엔 영향 없음)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366"/>
                          </a:solidFill>
                        </a:rPr>
                        <a:t>“지금 몇 개째야?”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card-185"/>
          <p:cNvSpPr/>
          <p:nvPr/>
        </p:nvSpPr>
        <p:spPr>
          <a:xfrm>
            <a:off x="4892040" y="256032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22" name="cardtext-186"/>
          <p:cNvSpPr txBox="1"/>
          <p:nvPr/>
        </p:nvSpPr>
        <p:spPr>
          <a:xfrm>
            <a:off x="5001768" y="2633472"/>
            <a:ext cx="357530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330"/>
                </a:solidFill>
              </a:rPr>
              <a:t>왜 이렇게 골랐나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Whisper small: 네트워크·한도와 무관, base는 “한 번만 더” 같은 달래기 말을 놓침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채팅과 음성은 같은 경로: LLM이 실패해도 키워드 규칙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Gemini 한도가 차면 Windows 한국어 음성(Heami)으로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실기 결과 (2026-10-23)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노트북에 실제 팔 · 카메라를 연결해 확인한 숫자</a:t>
            </a:r>
            <a:endParaRPr lang="en-US" sz="1400" dirty="0"/>
          </a:p>
        </p:txBody>
      </p:sp>
      <p:sp>
        <p:nvSpPr>
          <p:cNvPr id="4" name="stat-187"/>
          <p:cNvSpPr/>
          <p:nvPr/>
        </p:nvSpPr>
        <p:spPr>
          <a:xfrm>
            <a:off x="457200" y="12801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5" name="stattext-188"/>
          <p:cNvSpPr txBox="1"/>
          <p:nvPr/>
        </p:nvSpPr>
        <p:spPr>
          <a:xfrm>
            <a:off x="566928" y="1325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F4B"/>
                </a:solidFill>
              </a:rPr>
              <a:t>성공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오란다 1회 · 놓기 감지 · 22.7초</a:t>
            </a:r>
            <a:endParaRPr lang="en-US" sz="2000" dirty="0"/>
          </a:p>
        </p:txBody>
      </p:sp>
      <p:sp>
        <p:nvSpPr>
          <p:cNvPr id="6" name="stat-189"/>
          <p:cNvSpPr/>
          <p:nvPr/>
        </p:nvSpPr>
        <p:spPr>
          <a:xfrm>
            <a:off x="2560320" y="12801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7" name="stattext-190"/>
          <p:cNvSpPr txBox="1"/>
          <p:nvPr/>
        </p:nvSpPr>
        <p:spPr>
          <a:xfrm>
            <a:off x="2670048" y="1325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330"/>
                </a:solidFill>
              </a:rPr>
              <a:t>3 / 3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OpenCV 개수 · 17ms</a:t>
            </a:r>
            <a:endParaRPr lang="en-US" sz="2000" dirty="0"/>
          </a:p>
        </p:txBody>
      </p:sp>
      <p:sp>
        <p:nvSpPr>
          <p:cNvPr id="8" name="stat-191"/>
          <p:cNvSpPr/>
          <p:nvPr/>
        </p:nvSpPr>
        <p:spPr>
          <a:xfrm>
            <a:off x="4663440" y="12801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9" name="stattext-192"/>
          <p:cNvSpPr txBox="1"/>
          <p:nvPr/>
        </p:nvSpPr>
        <p:spPr>
          <a:xfrm>
            <a:off x="4773168" y="1325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330"/>
                </a:solidFill>
              </a:rPr>
              <a:t>0.14~0.23초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ACT 추론 1회 (CPU)</a:t>
            </a:r>
            <a:endParaRPr lang="en-US" sz="2000" dirty="0"/>
          </a:p>
        </p:txBody>
      </p:sp>
      <p:sp>
        <p:nvSpPr>
          <p:cNvPr id="10" name="stat-193"/>
          <p:cNvSpPr/>
          <p:nvPr/>
        </p:nvSpPr>
        <p:spPr>
          <a:xfrm>
            <a:off x="6766560" y="12801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1" name="stattext-194"/>
          <p:cNvSpPr txBox="1"/>
          <p:nvPr/>
        </p:nvSpPr>
        <p:spPr>
          <a:xfrm>
            <a:off x="6876288" y="1325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330"/>
                </a:solidFill>
              </a:rPr>
              <a:t>499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4A5366"/>
                </a:solidFill>
              </a:rPr>
              <a:t>자동 테스트 통과</a:t>
            </a:r>
            <a:endParaRPr lang="en-US" sz="2000" dirty="0"/>
          </a:p>
        </p:txBody>
      </p:sp>
      <p:graphicFrame>
        <p:nvGraphicFramePr>
          <p:cNvPr id="12" name="startup-chart" descr=""/>
          <p:cNvGraphicFramePr/>
          <p:nvPr/>
        </p:nvGraphicFramePr>
        <p:xfrm>
          <a:off x="457200" y="246888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card-195"/>
          <p:cNvSpPr/>
          <p:nvPr/>
        </p:nvSpPr>
        <p:spPr>
          <a:xfrm>
            <a:off x="4892040" y="246888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4" name="cardtext-196"/>
          <p:cNvSpPr txBox="1"/>
          <p:nvPr/>
        </p:nvSpPr>
        <p:spPr>
          <a:xfrm>
            <a:off x="5001768" y="2542032"/>
            <a:ext cx="35753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330"/>
                </a:solidFill>
              </a:rPr>
              <a:t>현장에서 고친 것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Windows 카메라 목록 오류 → 보정 코드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카메라 3대 동시 열기 실패 → USB 포트 분산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개수 2↔3 흔들림 → 색 마스크 + 5장 중앙값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판정 오류 → 놓은 뒤 다시 세어 확인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두 번 놓치면 → 투덜 + 도리도리, “이어서 해줘”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5366"/>
                </a:solidFill>
              </a:rPr>
              <a:t>도리도리 모델이 안 흔듦 → 코드 도리도리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3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배운 점과 다음 할 일</a:t>
            </a:r>
            <a:endParaRPr lang="en-US" sz="3200" dirty="0"/>
          </a:p>
        </p:txBody>
      </p:sp>
      <p:sp>
        <p:nvSpPr>
          <p:cNvPr id="3" name="wrapcard-197"/>
          <p:cNvSpPr/>
          <p:nvPr/>
        </p:nvSpPr>
        <p:spPr>
          <a:xfrm>
            <a:off x="548640" y="128016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262C37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4" name="wraptext-198"/>
          <p:cNvSpPr txBox="1"/>
          <p:nvPr/>
        </p:nvSpPr>
        <p:spPr>
          <a:xfrm>
            <a:off x="731520" y="141732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0A050"/>
                </a:solidFill>
              </a:rPr>
              <a:t>배운 점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역할을 나누면 안전하다: ACT는 동작 하나, 횟수 · 순서는 코드, LLM은 말만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현장 값은 데이터로: 그리퍼 기준 · lift 자세를 녹화에서 계산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OpenVINO 하나로 ACT · Whisper를 노트북 안에서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센서는 흔들린다 → 카메라 + 그리퍼를 같이 본다</a:t>
            </a:r>
            <a:endParaRPr lang="en-US" sz="1700" dirty="0"/>
          </a:p>
        </p:txBody>
      </p:sp>
      <p:sp>
        <p:nvSpPr>
          <p:cNvPr id="5" name="wrapcard-199"/>
          <p:cNvSpPr/>
          <p:nvPr/>
        </p:nvSpPr>
        <p:spPr>
          <a:xfrm>
            <a:off x="4709160" y="128016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262C37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6" name="wraptext-200"/>
          <p:cNvSpPr txBox="1"/>
          <p:nvPr/>
        </p:nvSpPr>
        <p:spPr>
          <a:xfrm>
            <a:off x="4892040" y="141732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0A050"/>
                </a:solidFill>
              </a:rPr>
              <a:t>다음 할 일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오란다 모델 더 학습 (에포크 5 → 늘리기)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도리도리 10~20 에피소드 다시 녹화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제어 주기 11~13Hz → 30Hz (학습 조건과 맞추기)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BF0"/>
                </a:solidFill>
              </a:rPr>
              <a:t>전체 흐름 리허설 · VLM 개수 세기 비교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050"/>
                </a:solidFill>
              </a:rPr>
              <a:t>거부 → 달래기 → 다시 일하기 · 지쳐도 달래면 다시 일하는 로봇, 보리</a:t>
            </a:r>
            <a:endParaRPr lang="en-US" sz="16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1280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ri Snackbot">
  <a:themeElements>
    <a:clrScheme name="Bori Snackbot">
      <a:dk1>
        <a:srgbClr val="1D2330"/>
      </a:dk1>
      <a:lt1>
        <a:srgbClr val="FFFFFF"/>
      </a:lt1>
      <a:dk2>
        <a:srgbClr val="4A5366"/>
      </a:dk2>
      <a:lt2>
        <a:srgbClr val="F3F5F8"/>
      </a:lt2>
      <a:accent1>
        <a:srgbClr val="C8691A"/>
      </a:accent1>
      <a:accent2>
        <a:srgbClr val="2F5BD8"/>
      </a:accent2>
      <a:accent3>
        <a:srgbClr val="1B7F4B"/>
      </a:accent3>
      <a:accent4>
        <a:srgbClr val="B3261E"/>
      </a:accent4>
      <a:accent5>
        <a:srgbClr val="7A3FB5"/>
      </a:accent5>
      <a:accent6>
        <a:srgbClr val="7A8394"/>
      </a:accent6>
      <a:hlink>
        <a:srgbClr val="2F5BD8"/>
      </a:hlink>
      <a:folHlink>
        <a:srgbClr val="7A3FB5"/>
      </a:folHlink>
    </a:clrScheme>
    <a:fontScheme name="Bori Snackbo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과자 옮기기 로봇 보리</dc:title>
  <dc:subject>PptxGenJS Presentation</dc:subject>
  <dc:creator>homerunball</dc:creator>
  <cp:lastModifiedBy>homerunball</cp:lastModifiedBy>
  <cp:revision>1</cp:revision>
  <dcterms:created xsi:type="dcterms:W3CDTF">2026-10-24T15:52:38Z</dcterms:created>
  <dcterms:modified xsi:type="dcterms:W3CDTF">2026-10-24T15:52:38Z</dcterms:modified>
</cp:coreProperties>
</file>